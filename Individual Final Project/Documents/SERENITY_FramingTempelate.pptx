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320" r:id="rId5"/>
    <p:sldId id="323" r:id="rId6"/>
    <p:sldId id="321" r:id="rId7"/>
    <p:sldId id="322" r:id="rId8"/>
    <p:sldId id="324" r:id="rId9"/>
    <p:sldId id="3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D097"/>
    <a:srgbClr val="B7E0E7"/>
    <a:srgbClr val="57B9AD"/>
    <a:srgbClr val="E6A4BB"/>
    <a:srgbClr val="F01B79"/>
    <a:srgbClr val="209DFA"/>
    <a:srgbClr val="FFCE30"/>
    <a:srgbClr val="FC3F43"/>
    <a:srgbClr val="C8E0DC"/>
    <a:srgbClr val="5C6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B393B-01DD-224E-A96B-971FE615BA1E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E19CA-738C-0142-B760-762277DB59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2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23D9A70-97D9-6792-FBD8-8F710E8BFA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446188 w 12192000"/>
              <a:gd name="connsiteY0" fmla="*/ 4733144 h 6858000"/>
              <a:gd name="connsiteX1" fmla="*/ 1446188 w 12192000"/>
              <a:gd name="connsiteY1" fmla="*/ 4827589 h 6858000"/>
              <a:gd name="connsiteX2" fmla="*/ 5044758 w 12192000"/>
              <a:gd name="connsiteY2" fmla="*/ 4827589 h 6858000"/>
              <a:gd name="connsiteX3" fmla="*/ 5044758 w 12192000"/>
              <a:gd name="connsiteY3" fmla="*/ 4733144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46188" y="4733144"/>
                </a:moveTo>
                <a:lnTo>
                  <a:pt x="1446188" y="4827589"/>
                </a:lnTo>
                <a:lnTo>
                  <a:pt x="5044758" y="4827589"/>
                </a:lnTo>
                <a:lnTo>
                  <a:pt x="5044758" y="473314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C26C7-4A35-5289-EDCF-18144343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57" y="1604019"/>
            <a:ext cx="3699701" cy="1325563"/>
          </a:xfrm>
        </p:spPr>
        <p:txBody>
          <a:bodyPr anchor="b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02A49C3-707F-F367-9A69-6FB934102D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45057" y="2928070"/>
            <a:ext cx="3699701" cy="1463675"/>
          </a:xfrm>
        </p:spPr>
        <p:txBody>
          <a:bodyPr>
            <a:noAutofit/>
          </a:bodyPr>
          <a:lstStyle>
            <a:lvl1pPr marL="0" indent="0">
              <a:lnSpc>
                <a:spcPts val="6840"/>
              </a:lnSpc>
              <a:spcBef>
                <a:spcPts val="0"/>
              </a:spcBef>
              <a:buNone/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230F7C-D474-7F46-1388-010330BD03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1123" y="691376"/>
            <a:ext cx="7268086" cy="5475248"/>
          </a:xfrm>
          <a:custGeom>
            <a:avLst/>
            <a:gdLst>
              <a:gd name="connsiteX0" fmla="*/ 0 w 7268086"/>
              <a:gd name="connsiteY0" fmla="*/ 0 h 5475248"/>
              <a:gd name="connsiteX1" fmla="*/ 7268086 w 7268086"/>
              <a:gd name="connsiteY1" fmla="*/ 0 h 5475248"/>
              <a:gd name="connsiteX2" fmla="*/ 7268086 w 7268086"/>
              <a:gd name="connsiteY2" fmla="*/ 5475248 h 5475248"/>
              <a:gd name="connsiteX3" fmla="*/ 0 w 7268086"/>
              <a:gd name="connsiteY3" fmla="*/ 5475248 h 5475248"/>
              <a:gd name="connsiteX4" fmla="*/ 0 w 7268086"/>
              <a:gd name="connsiteY4" fmla="*/ 4136213 h 5475248"/>
              <a:gd name="connsiteX5" fmla="*/ 793635 w 7268086"/>
              <a:gd name="connsiteY5" fmla="*/ 4136213 h 5475248"/>
              <a:gd name="connsiteX6" fmla="*/ 793635 w 7268086"/>
              <a:gd name="connsiteY6" fmla="*/ 4041768 h 5475248"/>
              <a:gd name="connsiteX7" fmla="*/ 0 w 7268086"/>
              <a:gd name="connsiteY7" fmla="*/ 4041768 h 5475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8086" h="5475248">
                <a:moveTo>
                  <a:pt x="0" y="0"/>
                </a:moveTo>
                <a:lnTo>
                  <a:pt x="7268086" y="0"/>
                </a:lnTo>
                <a:lnTo>
                  <a:pt x="7268086" y="5475248"/>
                </a:lnTo>
                <a:lnTo>
                  <a:pt x="0" y="5475248"/>
                </a:lnTo>
                <a:lnTo>
                  <a:pt x="0" y="4136213"/>
                </a:lnTo>
                <a:lnTo>
                  <a:pt x="793635" y="4136213"/>
                </a:lnTo>
                <a:lnTo>
                  <a:pt x="793635" y="4041768"/>
                </a:lnTo>
                <a:lnTo>
                  <a:pt x="0" y="404176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23D77-342F-B39B-20A7-4B83947191A3}"/>
              </a:ext>
            </a:extLst>
          </p:cNvPr>
          <p:cNvSpPr/>
          <p:nvPr userDrawn="1"/>
        </p:nvSpPr>
        <p:spPr>
          <a:xfrm rot="5400000">
            <a:off x="3198250" y="2981081"/>
            <a:ext cx="94445" cy="35985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1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8D74DF6-9C28-3465-2019-0551C7EEDB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4"/>
            <a:ext cx="12192000" cy="6858000"/>
          </a:xfrm>
          <a:custGeom>
            <a:avLst/>
            <a:gdLst>
              <a:gd name="connsiteX0" fmla="*/ 1063375 w 12192000"/>
              <a:gd name="connsiteY0" fmla="*/ 1274706 h 6858000"/>
              <a:gd name="connsiteX1" fmla="*/ 1063375 w 12192000"/>
              <a:gd name="connsiteY1" fmla="*/ 1916503 h 6858000"/>
              <a:gd name="connsiteX2" fmla="*/ 1137397 w 12192000"/>
              <a:gd name="connsiteY2" fmla="*/ 1916503 h 6858000"/>
              <a:gd name="connsiteX3" fmla="*/ 1137397 w 12192000"/>
              <a:gd name="connsiteY3" fmla="*/ 1274706 h 6858000"/>
              <a:gd name="connsiteX4" fmla="*/ 10560887 w 12192000"/>
              <a:gd name="connsiteY4" fmla="*/ 691378 h 6858000"/>
              <a:gd name="connsiteX5" fmla="*/ 10560887 w 12192000"/>
              <a:gd name="connsiteY5" fmla="*/ 3429002 h 6858000"/>
              <a:gd name="connsiteX6" fmla="*/ 10635458 w 12192000"/>
              <a:gd name="connsiteY6" fmla="*/ 3429002 h 6858000"/>
              <a:gd name="connsiteX7" fmla="*/ 10635458 w 12192000"/>
              <a:gd name="connsiteY7" fmla="*/ 691378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063375" y="1274706"/>
                </a:moveTo>
                <a:lnTo>
                  <a:pt x="1063375" y="1916503"/>
                </a:lnTo>
                <a:lnTo>
                  <a:pt x="1137397" y="1916503"/>
                </a:lnTo>
                <a:lnTo>
                  <a:pt x="1137397" y="1274706"/>
                </a:lnTo>
                <a:close/>
                <a:moveTo>
                  <a:pt x="10560887" y="691378"/>
                </a:moveTo>
                <a:lnTo>
                  <a:pt x="10560887" y="3429002"/>
                </a:lnTo>
                <a:lnTo>
                  <a:pt x="10635458" y="3429002"/>
                </a:lnTo>
                <a:lnTo>
                  <a:pt x="10635458" y="691378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3B8C19-FFDA-0E31-1EA0-053FD5FC4616}"/>
              </a:ext>
            </a:extLst>
          </p:cNvPr>
          <p:cNvSpPr/>
          <p:nvPr userDrawn="1"/>
        </p:nvSpPr>
        <p:spPr>
          <a:xfrm flipH="1">
            <a:off x="10560887" y="691374"/>
            <a:ext cx="74571" cy="2737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DBF908-825F-8234-BA86-E7D404FD4B5F}"/>
              </a:ext>
            </a:extLst>
          </p:cNvPr>
          <p:cNvSpPr/>
          <p:nvPr userDrawn="1"/>
        </p:nvSpPr>
        <p:spPr>
          <a:xfrm flipH="1">
            <a:off x="1063375" y="1274702"/>
            <a:ext cx="74022" cy="641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081" y="1229353"/>
            <a:ext cx="3421114" cy="73866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7787599C-A924-B198-CDBF-B90D5FB950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8546" y="2484020"/>
            <a:ext cx="4050403" cy="36826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3545" y="691374"/>
            <a:ext cx="5080620" cy="27376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5DF1C5D6-E90E-8FEC-65D6-220522F97FC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43544" y="3665658"/>
            <a:ext cx="5995515" cy="250096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951FEB92-FFD0-C5B6-D939-FF6594925D7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DAAD609-3CB4-A238-3A82-1EFF7E1AF7B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D3F7936-F2FA-6DD7-F321-117AE81536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26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5461A5-1E64-2C66-535A-B60E5F9D29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310515 w 12192000"/>
              <a:gd name="connsiteY0" fmla="*/ 5271080 h 6858000"/>
              <a:gd name="connsiteX1" fmla="*/ 7310515 w 12192000"/>
              <a:gd name="connsiteY1" fmla="*/ 5912877 h 6858000"/>
              <a:gd name="connsiteX2" fmla="*/ 7384537 w 12192000"/>
              <a:gd name="connsiteY2" fmla="*/ 5912877 h 6858000"/>
              <a:gd name="connsiteX3" fmla="*/ 7384537 w 12192000"/>
              <a:gd name="connsiteY3" fmla="*/ 5271080 h 6858000"/>
              <a:gd name="connsiteX4" fmla="*/ 6923182 w 12192000"/>
              <a:gd name="connsiteY4" fmla="*/ 1001646 h 6858000"/>
              <a:gd name="connsiteX5" fmla="*/ 6923182 w 12192000"/>
              <a:gd name="connsiteY5" fmla="*/ 1076218 h 6858000"/>
              <a:gd name="connsiteX6" fmla="*/ 10973585 w 12192000"/>
              <a:gd name="connsiteY6" fmla="*/ 1076218 h 6858000"/>
              <a:gd name="connsiteX7" fmla="*/ 10973585 w 12192000"/>
              <a:gd name="connsiteY7" fmla="*/ 1001646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310515" y="5271080"/>
                </a:moveTo>
                <a:lnTo>
                  <a:pt x="7310515" y="5912877"/>
                </a:lnTo>
                <a:lnTo>
                  <a:pt x="7384537" y="5912877"/>
                </a:lnTo>
                <a:lnTo>
                  <a:pt x="7384537" y="5271080"/>
                </a:lnTo>
                <a:close/>
                <a:moveTo>
                  <a:pt x="6923182" y="1001646"/>
                </a:moveTo>
                <a:lnTo>
                  <a:pt x="6923182" y="1076218"/>
                </a:lnTo>
                <a:lnTo>
                  <a:pt x="10973585" y="1076218"/>
                </a:lnTo>
                <a:lnTo>
                  <a:pt x="10973585" y="10016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3624" y="5225726"/>
            <a:ext cx="3421114" cy="73866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7787599C-A924-B198-CDBF-B90D5FB950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99170" y="691374"/>
            <a:ext cx="5548262" cy="54752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3182" y="1412110"/>
            <a:ext cx="4050403" cy="34328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F7E8E-D50C-3B7F-9347-654DB451356D}"/>
              </a:ext>
            </a:extLst>
          </p:cNvPr>
          <p:cNvSpPr/>
          <p:nvPr userDrawn="1"/>
        </p:nvSpPr>
        <p:spPr>
          <a:xfrm>
            <a:off x="6923182" y="1001642"/>
            <a:ext cx="4050403" cy="74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7B251-1235-0B78-1FF4-283F9C7C9B2A}"/>
              </a:ext>
            </a:extLst>
          </p:cNvPr>
          <p:cNvSpPr/>
          <p:nvPr userDrawn="1"/>
        </p:nvSpPr>
        <p:spPr>
          <a:xfrm flipH="1">
            <a:off x="7310515" y="5271076"/>
            <a:ext cx="74022" cy="641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E3169-D816-EA3A-E026-4E490430366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DC380-568B-B003-8EA7-26188F40623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98F32-9369-C76E-53F3-8F32E8A36A0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9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E4BCE4-7103-4220-28D1-881594C4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359696 w 12192000"/>
              <a:gd name="connsiteY0" fmla="*/ 3263901 h 6858000"/>
              <a:gd name="connsiteX1" fmla="*/ 1359696 w 12192000"/>
              <a:gd name="connsiteY1" fmla="*/ 6160457 h 6858000"/>
              <a:gd name="connsiteX2" fmla="*/ 1434267 w 12192000"/>
              <a:gd name="connsiteY2" fmla="*/ 6160457 h 6858000"/>
              <a:gd name="connsiteX3" fmla="*/ 1434267 w 12192000"/>
              <a:gd name="connsiteY3" fmla="*/ 32639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359696" y="3263901"/>
                </a:moveTo>
                <a:lnTo>
                  <a:pt x="1359696" y="6160457"/>
                </a:lnTo>
                <a:lnTo>
                  <a:pt x="1434267" y="6160457"/>
                </a:lnTo>
                <a:lnTo>
                  <a:pt x="1434267" y="32639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752" y="3180691"/>
            <a:ext cx="4098244" cy="5232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7787599C-A924-B198-CDBF-B90D5FB950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4974" y="691376"/>
            <a:ext cx="5384773" cy="219911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1FE814E3-7A6E-78CB-8975-1FBC83941D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88133" y="3961343"/>
            <a:ext cx="4415861" cy="220527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60334" y="691373"/>
            <a:ext cx="4685542" cy="54863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F3960E-A046-46FA-B109-A969BC62D072}"/>
              </a:ext>
            </a:extLst>
          </p:cNvPr>
          <p:cNvSpPr/>
          <p:nvPr userDrawn="1"/>
        </p:nvSpPr>
        <p:spPr>
          <a:xfrm flipH="1">
            <a:off x="1359696" y="3263901"/>
            <a:ext cx="74571" cy="28965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C4470-FA3A-CB0F-6B7B-BA7DD3151A0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CC4C-70B6-ACC3-0EF1-A9A6594388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73E-7AB7-F56A-7E95-A520FB9FFE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0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23D9A70-97D9-6792-FBD8-8F710E8BFA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230F7C-D474-7F46-1388-010330BD03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605117"/>
            <a:ext cx="12192000" cy="56477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C26C7-4A35-5289-EDCF-18144343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9431" cy="3381000"/>
          </a:xfrm>
          <a:solidFill>
            <a:schemeClr val="tx1">
              <a:alpha val="29000"/>
            </a:schemeClr>
          </a:solidFill>
        </p:spPr>
        <p:txBody>
          <a:bodyPr anchor="b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02A49C3-707F-F367-9A69-6FB934102D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379488"/>
            <a:ext cx="12199430" cy="3486280"/>
          </a:xfrm>
          <a:solidFill>
            <a:schemeClr val="tx1">
              <a:alpha val="29000"/>
            </a:schemeClr>
          </a:solidFill>
        </p:spPr>
        <p:txBody>
          <a:bodyPr>
            <a:noAutofit/>
          </a:bodyPr>
          <a:lstStyle>
            <a:lvl1pPr marL="0" indent="0" algn="ctr">
              <a:lnSpc>
                <a:spcPts val="6840"/>
              </a:lnSpc>
              <a:spcBef>
                <a:spcPts val="0"/>
              </a:spcBef>
              <a:buNone/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371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4755DF2-29CB-0203-575E-2C006AA200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4"/>
            <a:ext cx="12192000" cy="6858000"/>
          </a:xfrm>
          <a:custGeom>
            <a:avLst/>
            <a:gdLst>
              <a:gd name="connsiteX0" fmla="*/ 1296121 w 12192000"/>
              <a:gd name="connsiteY0" fmla="*/ 3425863 h 6858000"/>
              <a:gd name="connsiteX1" fmla="*/ 1296121 w 12192000"/>
              <a:gd name="connsiteY1" fmla="*/ 6163487 h 6858000"/>
              <a:gd name="connsiteX2" fmla="*/ 1370692 w 12192000"/>
              <a:gd name="connsiteY2" fmla="*/ 6163487 h 6858000"/>
              <a:gd name="connsiteX3" fmla="*/ 1370692 w 12192000"/>
              <a:gd name="connsiteY3" fmla="*/ 3425863 h 6858000"/>
              <a:gd name="connsiteX4" fmla="*/ 7545828 w 12192000"/>
              <a:gd name="connsiteY4" fmla="*/ 1046106 h 6858000"/>
              <a:gd name="connsiteX5" fmla="*/ 7545828 w 12192000"/>
              <a:gd name="connsiteY5" fmla="*/ 1687903 h 6858000"/>
              <a:gd name="connsiteX6" fmla="*/ 7619850 w 12192000"/>
              <a:gd name="connsiteY6" fmla="*/ 1687903 h 6858000"/>
              <a:gd name="connsiteX7" fmla="*/ 7619850 w 12192000"/>
              <a:gd name="connsiteY7" fmla="*/ 1046106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296121" y="3425863"/>
                </a:moveTo>
                <a:lnTo>
                  <a:pt x="1296121" y="6163487"/>
                </a:lnTo>
                <a:lnTo>
                  <a:pt x="1370692" y="6163487"/>
                </a:lnTo>
                <a:lnTo>
                  <a:pt x="1370692" y="3425863"/>
                </a:lnTo>
                <a:close/>
                <a:moveTo>
                  <a:pt x="7545828" y="1046106"/>
                </a:moveTo>
                <a:lnTo>
                  <a:pt x="7545828" y="1687903"/>
                </a:lnTo>
                <a:lnTo>
                  <a:pt x="7619850" y="1687903"/>
                </a:lnTo>
                <a:lnTo>
                  <a:pt x="7619850" y="10461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667" y="1006028"/>
            <a:ext cx="3421114" cy="73866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3834" y="679593"/>
            <a:ext cx="5995516" cy="24953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7787599C-A924-B198-CDBF-B90D5FB950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59888" y="3448161"/>
            <a:ext cx="4889464" cy="27407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5DF1C5D6-E90E-8FEC-65D6-220522F97FC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07376" y="2247813"/>
            <a:ext cx="4050403" cy="39188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EBAF9-87BE-1EF9-409C-C9CB960840BA}"/>
              </a:ext>
            </a:extLst>
          </p:cNvPr>
          <p:cNvSpPr/>
          <p:nvPr userDrawn="1"/>
        </p:nvSpPr>
        <p:spPr>
          <a:xfrm flipH="1">
            <a:off x="1296121" y="3425859"/>
            <a:ext cx="74571" cy="2737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5B9C39-5C81-CEF4-7A39-45CE321DB41B}"/>
              </a:ext>
            </a:extLst>
          </p:cNvPr>
          <p:cNvSpPr/>
          <p:nvPr userDrawn="1"/>
        </p:nvSpPr>
        <p:spPr>
          <a:xfrm flipH="1">
            <a:off x="7545828" y="1046102"/>
            <a:ext cx="74022" cy="641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CEE47405-C80E-7F76-78D3-D23F1DBB2E9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E024150-A865-4C67-62C0-8443D636C79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0D30AFC-A92E-4EE5-CD54-43F8A7C66BA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1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84AD23-AB3F-1A33-5F6F-C8508EF1D7CC}"/>
              </a:ext>
            </a:extLst>
          </p:cNvPr>
          <p:cNvSpPr/>
          <p:nvPr userDrawn="1"/>
        </p:nvSpPr>
        <p:spPr>
          <a:xfrm flipH="1">
            <a:off x="1040658" y="5035371"/>
            <a:ext cx="74022" cy="641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64DA5-8E4B-34F5-39C7-5FF1D5635A91}"/>
              </a:ext>
            </a:extLst>
          </p:cNvPr>
          <p:cNvSpPr/>
          <p:nvPr userDrawn="1"/>
        </p:nvSpPr>
        <p:spPr>
          <a:xfrm>
            <a:off x="815799" y="986594"/>
            <a:ext cx="4050403" cy="74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AE7784-D9AF-01D4-9DC2-EE966F53A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4"/>
            <a:ext cx="12192000" cy="6858000"/>
          </a:xfrm>
          <a:custGeom>
            <a:avLst/>
            <a:gdLst>
              <a:gd name="connsiteX0" fmla="*/ 1040658 w 12192000"/>
              <a:gd name="connsiteY0" fmla="*/ 5035375 h 6858000"/>
              <a:gd name="connsiteX1" fmla="*/ 1040658 w 12192000"/>
              <a:gd name="connsiteY1" fmla="*/ 5677172 h 6858000"/>
              <a:gd name="connsiteX2" fmla="*/ 1114680 w 12192000"/>
              <a:gd name="connsiteY2" fmla="*/ 5677172 h 6858000"/>
              <a:gd name="connsiteX3" fmla="*/ 1114680 w 12192000"/>
              <a:gd name="connsiteY3" fmla="*/ 5035375 h 6858000"/>
              <a:gd name="connsiteX4" fmla="*/ 815799 w 12192000"/>
              <a:gd name="connsiteY4" fmla="*/ 986598 h 6858000"/>
              <a:gd name="connsiteX5" fmla="*/ 815799 w 12192000"/>
              <a:gd name="connsiteY5" fmla="*/ 1061170 h 6858000"/>
              <a:gd name="connsiteX6" fmla="*/ 4866202 w 12192000"/>
              <a:gd name="connsiteY6" fmla="*/ 1061170 h 6858000"/>
              <a:gd name="connsiteX7" fmla="*/ 4866202 w 12192000"/>
              <a:gd name="connsiteY7" fmla="*/ 986598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040658" y="5035375"/>
                </a:moveTo>
                <a:lnTo>
                  <a:pt x="1040658" y="5677172"/>
                </a:lnTo>
                <a:lnTo>
                  <a:pt x="1114680" y="5677172"/>
                </a:lnTo>
                <a:lnTo>
                  <a:pt x="1114680" y="5035375"/>
                </a:lnTo>
                <a:close/>
                <a:moveTo>
                  <a:pt x="815799" y="986598"/>
                </a:moveTo>
                <a:lnTo>
                  <a:pt x="815799" y="1061170"/>
                </a:lnTo>
                <a:lnTo>
                  <a:pt x="4866202" y="1061170"/>
                </a:lnTo>
                <a:lnTo>
                  <a:pt x="4866202" y="986598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735" y="4938504"/>
            <a:ext cx="3421114" cy="73866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800" y="1485900"/>
            <a:ext cx="4050402" cy="31247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5DF1C5D6-E90E-8FEC-65D6-220522F97FC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02862" y="691376"/>
            <a:ext cx="6319907" cy="54975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5FE9840-4D0A-3215-593A-31C8AEDE22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B56F20A-574B-41CB-8972-E70883590F9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41DF7-DCDC-5CCE-5EE4-426AFE7564A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62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C834B79-4321-EC6F-217D-AB9D6B4BE1E9}"/>
              </a:ext>
            </a:extLst>
          </p:cNvPr>
          <p:cNvSpPr/>
          <p:nvPr userDrawn="1"/>
        </p:nvSpPr>
        <p:spPr>
          <a:xfrm flipH="1">
            <a:off x="10913980" y="888045"/>
            <a:ext cx="74570" cy="2718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82727-135A-5E49-19A0-822E5D29C2C4}"/>
              </a:ext>
            </a:extLst>
          </p:cNvPr>
          <p:cNvSpPr/>
          <p:nvPr userDrawn="1"/>
        </p:nvSpPr>
        <p:spPr>
          <a:xfrm flipH="1">
            <a:off x="6818778" y="3263801"/>
            <a:ext cx="7457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CFF2A9-CB8F-76AC-39E6-AB90CB03A2B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4"/>
            <a:ext cx="12192000" cy="6858000"/>
          </a:xfrm>
          <a:custGeom>
            <a:avLst/>
            <a:gdLst>
              <a:gd name="connsiteX0" fmla="*/ 6818778 w 12192000"/>
              <a:gd name="connsiteY0" fmla="*/ 3263805 h 6858000"/>
              <a:gd name="connsiteX1" fmla="*/ 6818778 w 12192000"/>
              <a:gd name="connsiteY1" fmla="*/ 3606705 h 6858000"/>
              <a:gd name="connsiteX2" fmla="*/ 6893349 w 12192000"/>
              <a:gd name="connsiteY2" fmla="*/ 3606705 h 6858000"/>
              <a:gd name="connsiteX3" fmla="*/ 6893349 w 12192000"/>
              <a:gd name="connsiteY3" fmla="*/ 3263805 h 6858000"/>
              <a:gd name="connsiteX4" fmla="*/ 10913980 w 12192000"/>
              <a:gd name="connsiteY4" fmla="*/ 888049 h 6858000"/>
              <a:gd name="connsiteX5" fmla="*/ 10913980 w 12192000"/>
              <a:gd name="connsiteY5" fmla="*/ 3606705 h 6858000"/>
              <a:gd name="connsiteX6" fmla="*/ 10988550 w 12192000"/>
              <a:gd name="connsiteY6" fmla="*/ 3606705 h 6858000"/>
              <a:gd name="connsiteX7" fmla="*/ 10988550 w 12192000"/>
              <a:gd name="connsiteY7" fmla="*/ 88804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6818778" y="3263805"/>
                </a:moveTo>
                <a:lnTo>
                  <a:pt x="6818778" y="3606705"/>
                </a:lnTo>
                <a:lnTo>
                  <a:pt x="6893349" y="3606705"/>
                </a:lnTo>
                <a:lnTo>
                  <a:pt x="6893349" y="3263805"/>
                </a:lnTo>
                <a:close/>
                <a:moveTo>
                  <a:pt x="10913980" y="888049"/>
                </a:moveTo>
                <a:lnTo>
                  <a:pt x="10913980" y="3606705"/>
                </a:lnTo>
                <a:lnTo>
                  <a:pt x="10988550" y="3606705"/>
                </a:lnTo>
                <a:lnTo>
                  <a:pt x="10988550" y="88804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28D08E-0DB9-FA2C-2486-7673906E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812" y="3155075"/>
            <a:ext cx="3421114" cy="5488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73574-9670-E642-D5E0-48D07813C3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31678" y="875761"/>
            <a:ext cx="5019265" cy="500773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5DF1C5D6-E90E-8FEC-65D6-220522F97FC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23807" y="875762"/>
            <a:ext cx="4050403" cy="2020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7787599C-A924-B198-CDBF-B90D5FB950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23805" y="3962400"/>
            <a:ext cx="4759237" cy="19202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90CDF9A-0ECC-DBFF-B399-0515BB76C30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A348893-9462-4A49-D185-62A9A8F5F2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DE23A03-EF3E-7255-2FB5-C707FCB74D9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18BC8C6-35B9-C036-CA03-0C8EA1A933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81870 w 12192000"/>
              <a:gd name="connsiteY0" fmla="*/ 4706950 h 6858000"/>
              <a:gd name="connsiteX1" fmla="*/ 7881870 w 12192000"/>
              <a:gd name="connsiteY1" fmla="*/ 4801395 h 6858000"/>
              <a:gd name="connsiteX2" fmla="*/ 11480440 w 12192000"/>
              <a:gd name="connsiteY2" fmla="*/ 4801395 h 6858000"/>
              <a:gd name="connsiteX3" fmla="*/ 11480440 w 12192000"/>
              <a:gd name="connsiteY3" fmla="*/ 47069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7881870" y="4706950"/>
                </a:moveTo>
                <a:lnTo>
                  <a:pt x="7881870" y="4801395"/>
                </a:lnTo>
                <a:lnTo>
                  <a:pt x="11480440" y="4801395"/>
                </a:lnTo>
                <a:lnTo>
                  <a:pt x="11480440" y="47069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64F71F-8DAD-043D-8E24-73AD0F243D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4761" y="691376"/>
            <a:ext cx="7386554" cy="5475248"/>
          </a:xfrm>
          <a:custGeom>
            <a:avLst/>
            <a:gdLst>
              <a:gd name="connsiteX0" fmla="*/ 0 w 7386554"/>
              <a:gd name="connsiteY0" fmla="*/ 0 h 5475248"/>
              <a:gd name="connsiteX1" fmla="*/ 7386554 w 7386554"/>
              <a:gd name="connsiteY1" fmla="*/ 0 h 5475248"/>
              <a:gd name="connsiteX2" fmla="*/ 7386554 w 7386554"/>
              <a:gd name="connsiteY2" fmla="*/ 4015574 h 5475248"/>
              <a:gd name="connsiteX3" fmla="*/ 6867109 w 7386554"/>
              <a:gd name="connsiteY3" fmla="*/ 4015574 h 5475248"/>
              <a:gd name="connsiteX4" fmla="*/ 6867109 w 7386554"/>
              <a:gd name="connsiteY4" fmla="*/ 4110019 h 5475248"/>
              <a:gd name="connsiteX5" fmla="*/ 7386554 w 7386554"/>
              <a:gd name="connsiteY5" fmla="*/ 4110019 h 5475248"/>
              <a:gd name="connsiteX6" fmla="*/ 7386554 w 7386554"/>
              <a:gd name="connsiteY6" fmla="*/ 5475248 h 5475248"/>
              <a:gd name="connsiteX7" fmla="*/ 0 w 7386554"/>
              <a:gd name="connsiteY7" fmla="*/ 5475248 h 5475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6554" h="5475248">
                <a:moveTo>
                  <a:pt x="0" y="0"/>
                </a:moveTo>
                <a:lnTo>
                  <a:pt x="7386554" y="0"/>
                </a:lnTo>
                <a:lnTo>
                  <a:pt x="7386554" y="4015574"/>
                </a:lnTo>
                <a:lnTo>
                  <a:pt x="6867109" y="4015574"/>
                </a:lnTo>
                <a:lnTo>
                  <a:pt x="6867109" y="4110019"/>
                </a:lnTo>
                <a:lnTo>
                  <a:pt x="7386554" y="4110019"/>
                </a:lnTo>
                <a:lnTo>
                  <a:pt x="7386554" y="5475248"/>
                </a:lnTo>
                <a:lnTo>
                  <a:pt x="0" y="54752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C26C7-4A35-5289-EDCF-18144343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836" y="1604019"/>
            <a:ext cx="3992451" cy="1325563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02A49C3-707F-F367-9A69-6FB934102D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78836" y="2928070"/>
            <a:ext cx="3992451" cy="1463675"/>
          </a:xfrm>
        </p:spPr>
        <p:txBody>
          <a:bodyPr>
            <a:noAutofit/>
          </a:bodyPr>
          <a:lstStyle>
            <a:lvl1pPr marL="0" indent="0">
              <a:lnSpc>
                <a:spcPts val="6840"/>
              </a:lnSpc>
              <a:spcBef>
                <a:spcPts val="0"/>
              </a:spcBef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468F32-B930-E0A8-7CED-8ADA357FECF2}"/>
              </a:ext>
            </a:extLst>
          </p:cNvPr>
          <p:cNvSpPr/>
          <p:nvPr userDrawn="1"/>
        </p:nvSpPr>
        <p:spPr>
          <a:xfrm rot="5400000">
            <a:off x="9633932" y="2954887"/>
            <a:ext cx="94445" cy="35985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0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6E6A2-7E2F-3170-F29A-EF2FDCEF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76320-FE4D-BE06-C461-01FB3852E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49560-BF57-7E24-3F66-16FCDA5CF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0FFFE1A-4519-6C4C-8D32-D82A0BEE47CD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47965-E2FF-47E0-6409-8B88AF182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9AFCF-E67D-3614-BF9E-C8EF4EC01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D2DFC8B-0312-8D45-8DBF-3A58D4273E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1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9" r:id="rId2"/>
    <p:sldLayoutId id="2147483658" r:id="rId3"/>
    <p:sldLayoutId id="2147483657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ts val="6840"/>
        </a:lnSpc>
        <a:spcBef>
          <a:spcPct val="0"/>
        </a:spcBef>
        <a:buNone/>
        <a:defRPr sz="4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forest">
            <a:extLst>
              <a:ext uri="{FF2B5EF4-FFF2-40B4-BE49-F238E27FC236}">
                <a16:creationId xmlns:a16="http://schemas.microsoft.com/office/drawing/2014/main" id="{E05E10AD-2DA0-5E81-6953-6CB581085E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-21181"/>
            <a:ext cx="12192000" cy="68580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3C58803-B2E7-9BB2-A617-4D7EA775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138472"/>
            <a:ext cx="3699701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SERENITY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A543E4-C3CB-D874-8B3C-43D6DABB69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21129" y="1135846"/>
            <a:ext cx="7076567" cy="1463675"/>
          </a:xfrm>
        </p:spPr>
        <p:txBody>
          <a:bodyPr/>
          <a:lstStyle/>
          <a:p>
            <a:r>
              <a:rPr lang="en-US" sz="3600" dirty="0"/>
              <a:t>Find your calm!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C5A9D-14E3-8787-04AC-CB5F2630C782}"/>
              </a:ext>
            </a:extLst>
          </p:cNvPr>
          <p:cNvSpPr txBox="1"/>
          <p:nvPr/>
        </p:nvSpPr>
        <p:spPr>
          <a:xfrm>
            <a:off x="3419856" y="2879385"/>
            <a:ext cx="60159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Joanne Chepkoech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Web Tech Fall 2025 Final Exam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Serenity – Wellness platform</a:t>
            </a:r>
            <a:endParaRPr lang="en-GH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28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4" descr="A forest">
            <a:extLst>
              <a:ext uri="{FF2B5EF4-FFF2-40B4-BE49-F238E27FC236}">
                <a16:creationId xmlns:a16="http://schemas.microsoft.com/office/drawing/2014/main" id="{E3629A47-53D7-81DD-E065-2AC4EC8A4BD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/>
          <a:stretch/>
        </p:blipFill>
        <p:spPr>
          <a:xfrm>
            <a:off x="0" y="-4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16DEAC3-8FFC-399B-79BB-D1636D17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640" y="1298447"/>
            <a:ext cx="7915072" cy="3831337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00B050"/>
                </a:solidFill>
              </a:rPr>
              <a:t>Serenity</a:t>
            </a:r>
            <a:r>
              <a:rPr lang="en-GB" sz="2400" dirty="0"/>
              <a:t> is a comprehensive web-based mental health platform designed to bridge the gap between individuals seeking psychological support and verified professional therapists.</a:t>
            </a:r>
            <a:br>
              <a:rPr lang="en-GB" sz="2400" dirty="0"/>
            </a:br>
            <a:r>
              <a:rPr lang="en-GB" sz="2400" dirty="0"/>
              <a:t>It provides a secure and calming environment where clients can anonymously browse resources, book therapy sessions (Individual, Couples, or Child/Teen), and where therapists can professionally manage their practice through a digital dashboard.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F8CF5-02A5-3EF1-3A37-7801CEB770C8}"/>
              </a:ext>
            </a:extLst>
          </p:cNvPr>
          <p:cNvSpPr txBox="1"/>
          <p:nvPr/>
        </p:nvSpPr>
        <p:spPr>
          <a:xfrm>
            <a:off x="3566160" y="411480"/>
            <a:ext cx="42984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Project Description</a:t>
            </a:r>
            <a:endParaRPr lang="en-GH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33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4" descr="A forest">
            <a:extLst>
              <a:ext uri="{FF2B5EF4-FFF2-40B4-BE49-F238E27FC236}">
                <a16:creationId xmlns:a16="http://schemas.microsoft.com/office/drawing/2014/main" id="{41F3FB64-AEFB-1F5D-6450-3C64EFD3ED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F939FD-3096-A9D1-4E6A-9F282D26E7C8}"/>
              </a:ext>
            </a:extLst>
          </p:cNvPr>
          <p:cNvSpPr txBox="1"/>
          <p:nvPr/>
        </p:nvSpPr>
        <p:spPr>
          <a:xfrm>
            <a:off x="4514088" y="155448"/>
            <a:ext cx="4176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Personas / Problem / Payoff</a:t>
            </a:r>
            <a:endParaRPr lang="en-GH" sz="2800" dirty="0">
              <a:solidFill>
                <a:schemeClr val="bg1"/>
              </a:solidFill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AF8EBFA-D8D4-4808-117B-2C34F169638D}"/>
              </a:ext>
            </a:extLst>
          </p:cNvPr>
          <p:cNvSpPr/>
          <p:nvPr/>
        </p:nvSpPr>
        <p:spPr>
          <a:xfrm>
            <a:off x="146304" y="822960"/>
            <a:ext cx="3794760" cy="5879592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            1. PERSONA(S)</a:t>
            </a:r>
            <a:endParaRPr lang="en-GB" dirty="0"/>
          </a:p>
          <a:p>
            <a:r>
              <a:rPr lang="en-GB" b="1" dirty="0"/>
              <a:t>Joanne (The Client):</a:t>
            </a:r>
            <a:r>
              <a:rPr lang="en-GB" dirty="0"/>
              <a:t> A 22-year-old university student dealing with exam stress. She wants privacy and doesn't want to call a clinic to book. She loves reading self-help articles before committing to a doctor.</a:t>
            </a:r>
          </a:p>
          <a:p>
            <a:endParaRPr lang="en-GB" dirty="0"/>
          </a:p>
          <a:p>
            <a:r>
              <a:rPr lang="en-GB" b="1" dirty="0"/>
              <a:t>Dr. Marie (The Therapist):</a:t>
            </a:r>
            <a:r>
              <a:rPr lang="en-GB" dirty="0"/>
              <a:t> A busy couples therapist. She loses clients because she misses phone calls while in sessions. She needs a way to see her schedule at a glance.</a:t>
            </a:r>
          </a:p>
          <a:p>
            <a:pPr algn="ctr"/>
            <a:endParaRPr lang="en-GH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5F2C80B9-7D1B-7543-E705-BCFAE30482CC}"/>
              </a:ext>
            </a:extLst>
          </p:cNvPr>
          <p:cNvSpPr/>
          <p:nvPr/>
        </p:nvSpPr>
        <p:spPr>
          <a:xfrm>
            <a:off x="4198620" y="822960"/>
            <a:ext cx="3794760" cy="5879592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               </a:t>
            </a:r>
          </a:p>
          <a:p>
            <a:endParaRPr lang="en-GB" b="1" dirty="0"/>
          </a:p>
          <a:p>
            <a:r>
              <a:rPr lang="en-GB" b="1" dirty="0"/>
              <a:t>                 2. PROBLEM</a:t>
            </a:r>
            <a:endParaRPr lang="en-GB" dirty="0"/>
          </a:p>
          <a:p>
            <a:r>
              <a:rPr lang="en-GB" b="1" dirty="0"/>
              <a:t>For Clients:</a:t>
            </a:r>
            <a:r>
              <a:rPr lang="en-GB" dirty="0"/>
              <a:t> The process of finding a therapist is intimidating and lacks transparency regarding costs and specializations.</a:t>
            </a:r>
          </a:p>
          <a:p>
            <a:endParaRPr lang="en-GB" dirty="0"/>
          </a:p>
          <a:p>
            <a:r>
              <a:rPr lang="en-GB" b="1" dirty="0"/>
              <a:t>For Therapists:</a:t>
            </a:r>
            <a:r>
              <a:rPr lang="en-GB" dirty="0"/>
              <a:t> Administrative chaos. Managing bookings via WhatsApp or phone calls leads to double-booking and "no-shows.“</a:t>
            </a:r>
          </a:p>
          <a:p>
            <a:endParaRPr lang="en-GB" dirty="0"/>
          </a:p>
          <a:p>
            <a:r>
              <a:rPr lang="en-GB" b="1" dirty="0"/>
              <a:t>General:</a:t>
            </a:r>
            <a:r>
              <a:rPr lang="en-GB" dirty="0"/>
              <a:t> Lack of a centralized, safe place to save mental health resources without booking a session immediately.</a:t>
            </a:r>
          </a:p>
          <a:p>
            <a:pPr algn="ctr"/>
            <a:endParaRPr lang="en-GH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0B3C83AD-090C-4DCC-163A-0BCA3DE75919}"/>
              </a:ext>
            </a:extLst>
          </p:cNvPr>
          <p:cNvSpPr/>
          <p:nvPr/>
        </p:nvSpPr>
        <p:spPr>
          <a:xfrm>
            <a:off x="8195310" y="822960"/>
            <a:ext cx="3794760" cy="5879592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/>
          </a:p>
          <a:p>
            <a:r>
              <a:rPr lang="en-GB" b="1" dirty="0"/>
              <a:t>        3. PAYOFF / SOLUTION:</a:t>
            </a:r>
            <a:endParaRPr lang="en-GB" dirty="0"/>
          </a:p>
          <a:p>
            <a:r>
              <a:rPr lang="en-GB" b="1" dirty="0"/>
              <a:t>Booking Wizard:</a:t>
            </a:r>
            <a:r>
              <a:rPr lang="en-GB" dirty="0"/>
              <a:t> A guided, step-by-step booking process that filters doctors by category (Adult vs. Child) and shows clear pricing.</a:t>
            </a:r>
          </a:p>
          <a:p>
            <a:r>
              <a:rPr lang="en-GB" b="1" dirty="0"/>
              <a:t>The Sanctuary:</a:t>
            </a:r>
            <a:r>
              <a:rPr lang="en-GB" dirty="0"/>
              <a:t> A personalized library where clients can "Save" articles to their profile for later reading.</a:t>
            </a:r>
          </a:p>
          <a:p>
            <a:r>
              <a:rPr lang="en-GB" b="1" dirty="0"/>
              <a:t>Therapist Dashboard:</a:t>
            </a:r>
            <a:r>
              <a:rPr lang="en-GB" dirty="0"/>
              <a:t> </a:t>
            </a:r>
          </a:p>
          <a:p>
            <a:r>
              <a:rPr lang="en-GB" dirty="0"/>
              <a:t>A professional dashboard that separates "Pending Requests" from "Confirmed Schedule," allowing doctors to manage their day efficiently.</a:t>
            </a:r>
          </a:p>
          <a:p>
            <a:pPr algn="ctr"/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25236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4" descr="A forest">
            <a:extLst>
              <a:ext uri="{FF2B5EF4-FFF2-40B4-BE49-F238E27FC236}">
                <a16:creationId xmlns:a16="http://schemas.microsoft.com/office/drawing/2014/main" id="{3D8FF88E-D86B-BECF-A456-809CC887E32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AC7496-664B-2B45-939F-A243DC9273E2}"/>
              </a:ext>
            </a:extLst>
          </p:cNvPr>
          <p:cNvSpPr txBox="1"/>
          <p:nvPr/>
        </p:nvSpPr>
        <p:spPr>
          <a:xfrm>
            <a:off x="4050792" y="185382"/>
            <a:ext cx="3080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Users of Serenity</a:t>
            </a:r>
            <a:endParaRPr lang="en-GH" sz="32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2DEA78-7C12-B64C-EF63-2FDE41F59361}"/>
              </a:ext>
            </a:extLst>
          </p:cNvPr>
          <p:cNvSpPr/>
          <p:nvPr/>
        </p:nvSpPr>
        <p:spPr>
          <a:xfrm>
            <a:off x="566928" y="843222"/>
            <a:ext cx="7196328" cy="86639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Business: </a:t>
            </a:r>
            <a:r>
              <a:rPr lang="en-US" dirty="0"/>
              <a:t>Mental Health booking and Resource Management System</a:t>
            </a:r>
            <a:br>
              <a:rPr lang="en-US" dirty="0"/>
            </a:br>
            <a:r>
              <a:rPr lang="en-GB" b="1" dirty="0"/>
              <a:t>Services: </a:t>
            </a:r>
            <a:r>
              <a:rPr lang="en-GB" dirty="0"/>
              <a:t>Professional Therapy (Adult, Child, Couples), Self-help Library, Appointment Scheduling.</a:t>
            </a:r>
            <a:endParaRPr lang="en-GH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A6906C-A534-722C-F621-9247FFB6CFB0}"/>
              </a:ext>
            </a:extLst>
          </p:cNvPr>
          <p:cNvSpPr/>
          <p:nvPr/>
        </p:nvSpPr>
        <p:spPr>
          <a:xfrm>
            <a:off x="630936" y="2987922"/>
            <a:ext cx="10049256" cy="160934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Clients (Patients):</a:t>
            </a:r>
            <a:endParaRPr lang="en-GB" dirty="0"/>
          </a:p>
          <a:p>
            <a:r>
              <a:rPr lang="en-US" dirty="0"/>
              <a:t>•</a:t>
            </a:r>
            <a:r>
              <a:rPr lang="en-GB" dirty="0"/>
              <a:t>Individuals seeking help for anxiety, stress, or relationships.</a:t>
            </a:r>
          </a:p>
          <a:p>
            <a:r>
              <a:rPr lang="en-US" dirty="0"/>
              <a:t>•</a:t>
            </a:r>
            <a:r>
              <a:rPr lang="en-GB" dirty="0"/>
              <a:t>Parents seeking therapy for their children (requires parental consent).</a:t>
            </a:r>
          </a:p>
          <a:p>
            <a:r>
              <a:rPr lang="en-GB" b="1" dirty="0"/>
              <a:t>Action:</a:t>
            </a:r>
            <a:r>
              <a:rPr lang="en-GB" dirty="0"/>
              <a:t> They can browse the Library, save resources, search for therapists by specialization, and manage their bookings.</a:t>
            </a:r>
          </a:p>
          <a:p>
            <a:pPr algn="ctr"/>
            <a:endParaRPr lang="en-GH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8D7BDD-65C9-43EA-9943-8D59C592754A}"/>
              </a:ext>
            </a:extLst>
          </p:cNvPr>
          <p:cNvSpPr/>
          <p:nvPr/>
        </p:nvSpPr>
        <p:spPr>
          <a:xfrm>
            <a:off x="630936" y="4866840"/>
            <a:ext cx="10515600" cy="153962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Therapists (Professionals):</a:t>
            </a:r>
            <a:endParaRPr lang="en-GB" dirty="0"/>
          </a:p>
          <a:p>
            <a:r>
              <a:rPr lang="en-GB" dirty="0"/>
              <a:t>Verified mental health practitioners.</a:t>
            </a:r>
          </a:p>
          <a:p>
            <a:r>
              <a:rPr lang="en-GB" b="1" dirty="0"/>
              <a:t>Action:</a:t>
            </a:r>
            <a:r>
              <a:rPr lang="en-GB" dirty="0"/>
              <a:t> They have a dashboard to view requests, accept/reject appointments, view their schedule, and update their professional bio/rates.</a:t>
            </a:r>
          </a:p>
          <a:p>
            <a:pPr algn="ctr"/>
            <a:endParaRPr lang="en-GH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92DC66-AFC0-DC09-1D07-51223A784C15}"/>
              </a:ext>
            </a:extLst>
          </p:cNvPr>
          <p:cNvSpPr/>
          <p:nvPr/>
        </p:nvSpPr>
        <p:spPr>
          <a:xfrm>
            <a:off x="630936" y="1960149"/>
            <a:ext cx="8924544" cy="77724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Admin:</a:t>
            </a:r>
            <a:endParaRPr lang="en-GB" dirty="0"/>
          </a:p>
          <a:p>
            <a:r>
              <a:rPr lang="en-GB" dirty="0"/>
              <a:t>Manages the platform, verifies therapist applications to ensure safety.</a:t>
            </a:r>
          </a:p>
          <a:p>
            <a:pPr algn="ctr"/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41870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4" descr="A person walking in a forest">
            <a:extLst>
              <a:ext uri="{FF2B5EF4-FFF2-40B4-BE49-F238E27FC236}">
                <a16:creationId xmlns:a16="http://schemas.microsoft.com/office/drawing/2014/main" id="{3904F8B2-7B19-BD21-0597-17F431E522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5A1DE-D2CB-935A-B3BA-D9C640E6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1024128"/>
            <a:ext cx="9015984" cy="393192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Main Functions of the Website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BEA85903-1A42-D857-76D4-C089ED7B5B69}"/>
              </a:ext>
            </a:extLst>
          </p:cNvPr>
          <p:cNvSpPr/>
          <p:nvPr/>
        </p:nvSpPr>
        <p:spPr>
          <a:xfrm>
            <a:off x="512064" y="1499616"/>
            <a:ext cx="11356848" cy="5038344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H" altLang="en-GH" b="1" dirty="0">
                <a:latin typeface="Arial" panose="020B0604020202020204" pitchFamily="34" charset="0"/>
              </a:rPr>
              <a:t>Smart Booking </a:t>
            </a:r>
            <a:r>
              <a:rPr lang="en-US" altLang="en-GH" b="1" dirty="0">
                <a:latin typeface="Arial" panose="020B0604020202020204" pitchFamily="34" charset="0"/>
              </a:rPr>
              <a:t>Dashboard</a:t>
            </a:r>
            <a:r>
              <a:rPr lang="en-GH" altLang="en-GH" b="1" dirty="0">
                <a:latin typeface="Arial" panose="020B0604020202020204" pitchFamily="34" charset="0"/>
              </a:rPr>
              <a:t>:</a:t>
            </a:r>
            <a:r>
              <a:rPr lang="en-GH" altLang="en-GH" dirty="0">
                <a:latin typeface="Arial" panose="020B0604020202020204" pitchFamily="34" charset="0"/>
              </a:rPr>
              <a:t> A dynamic, multi-step form that allows clients to select therapy types (with visual cues) and specific time slots.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H" altLang="en-GH" b="1" dirty="0">
                <a:latin typeface="Arial" panose="020B0604020202020204" pitchFamily="34" charset="0"/>
              </a:rPr>
              <a:t>Role-Based Dashboards:</a:t>
            </a:r>
            <a:r>
              <a:rPr lang="en-GH" altLang="en-GH" dirty="0">
                <a:latin typeface="Arial" panose="020B0604020202020204" pitchFamily="34" charset="0"/>
              </a:rPr>
              <a:t> Distinct interfaces for Clients (Profile &amp; History) and Therapists (Schedule &amp; Request Management).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H" altLang="en-GH" b="1" dirty="0">
                <a:latin typeface="Arial" panose="020B0604020202020204" pitchFamily="34" charset="0"/>
              </a:rPr>
              <a:t>The Sanctuary (Library):</a:t>
            </a:r>
            <a:r>
              <a:rPr lang="en-GH" altLang="en-GH" dirty="0">
                <a:latin typeface="Arial" panose="020B0604020202020204" pitchFamily="34" charset="0"/>
              </a:rPr>
              <a:t> A curated resource </a:t>
            </a:r>
            <a:r>
              <a:rPr lang="en-GH" altLang="en-GH" dirty="0" err="1">
                <a:latin typeface="Arial" panose="020B0604020202020204" pitchFamily="34" charset="0"/>
              </a:rPr>
              <a:t>center</a:t>
            </a:r>
            <a:r>
              <a:rPr lang="en-GH" altLang="en-GH" dirty="0">
                <a:latin typeface="Arial" panose="020B0604020202020204" pitchFamily="34" charset="0"/>
              </a:rPr>
              <a:t> where users can read and</a:t>
            </a:r>
            <a:r>
              <a:rPr lang="en-US" altLang="en-GH" dirty="0">
                <a:latin typeface="Arial" panose="020B0604020202020204" pitchFamily="34" charset="0"/>
              </a:rPr>
              <a:t> </a:t>
            </a:r>
            <a:r>
              <a:rPr lang="en-GH" altLang="en-GH" dirty="0">
                <a:latin typeface="Arial" panose="020B0604020202020204" pitchFamily="34" charset="0"/>
              </a:rPr>
              <a:t>save</a:t>
            </a:r>
            <a:r>
              <a:rPr lang="en-US" altLang="en-GH" dirty="0">
                <a:latin typeface="Arial" panose="020B0604020202020204" pitchFamily="34" charset="0"/>
              </a:rPr>
              <a:t> </a:t>
            </a:r>
            <a:r>
              <a:rPr lang="en-GH" altLang="en-GH" dirty="0">
                <a:latin typeface="Arial" panose="020B0604020202020204" pitchFamily="34" charset="0"/>
              </a:rPr>
              <a:t>articles to their personal collection.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H" altLang="en-GH" b="1" dirty="0">
                <a:latin typeface="Arial" panose="020B0604020202020204" pitchFamily="34" charset="0"/>
              </a:rPr>
              <a:t>Secure Authentication:</a:t>
            </a:r>
            <a:r>
              <a:rPr lang="en-GH" altLang="en-GH" dirty="0">
                <a:latin typeface="Arial" panose="020B0604020202020204" pitchFamily="34" charset="0"/>
              </a:rPr>
              <a:t> Users can safely update profiles, change passwords, and manage account details.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H" altLang="en-GH" b="1" dirty="0">
                <a:latin typeface="Arial" panose="020B0604020202020204" pitchFamily="34" charset="0"/>
              </a:rPr>
              <a:t>Status Tracking:</a:t>
            </a:r>
            <a:r>
              <a:rPr lang="en-GH" altLang="en-GH" dirty="0">
                <a:latin typeface="Arial" panose="020B0604020202020204" pitchFamily="34" charset="0"/>
              </a:rPr>
              <a:t> Real-time updates on appointments (Pending -&gt; Confirmed/Cancelled) visible to both parties.</a:t>
            </a:r>
          </a:p>
          <a:p>
            <a:pPr algn="ctr"/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57638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4A0E-1D3B-8F56-09A2-6E596CF9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4" descr="A person walking in a forest">
            <a:extLst>
              <a:ext uri="{FF2B5EF4-FFF2-40B4-BE49-F238E27FC236}">
                <a16:creationId xmlns:a16="http://schemas.microsoft.com/office/drawing/2014/main" id="{AE8D1040-569D-24B5-2B6E-FD967DDBAA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0D77B9-B33E-C142-6A8B-49394869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1024128"/>
            <a:ext cx="9015984" cy="39319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248DEC15-B61B-FA11-29A9-4B39012B2A47}"/>
              </a:ext>
            </a:extLst>
          </p:cNvPr>
          <p:cNvSpPr/>
          <p:nvPr/>
        </p:nvSpPr>
        <p:spPr>
          <a:xfrm>
            <a:off x="512064" y="1499616"/>
            <a:ext cx="11356848" cy="5038344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90ECAE-597F-74A2-C28E-9421FAA79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57507"/>
              </p:ext>
            </p:extLst>
          </p:nvPr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215864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34270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1024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PRESENTATION TIER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APPLICATION TIER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TIER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33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HTML5 / CSS3</a:t>
                      </a:r>
                      <a:r>
                        <a:rPr lang="en-US"/>
                        <a:t> (Custom Styling)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PHP</a:t>
                      </a:r>
                      <a:r>
                        <a:rPr lang="en-US"/>
                        <a:t> (Server-side scripting)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MySQL DATABASE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808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</a:t>
                      </a:r>
                      <a:r>
                        <a:rPr lang="en-US" b="1" dirty="0"/>
                        <a:t>JavaScript</a:t>
                      </a:r>
                      <a:r>
                        <a:rPr lang="en-US" dirty="0"/>
                        <a:t> (Booking logic)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• </a:t>
                      </a:r>
                      <a:r>
                        <a:rPr lang="en-GB" b="1"/>
                        <a:t>Authentication</a:t>
                      </a:r>
                      <a:r>
                        <a:rPr lang="en-GB"/>
                        <a:t> (Session handling, Password Hashing)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Users Table</a:t>
                      </a:r>
                      <a:r>
                        <a:rPr lang="en-US"/>
                        <a:t> (Roles: Client/Therapist)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30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</a:t>
                      </a:r>
                      <a:r>
                        <a:rPr lang="en-US" b="1" dirty="0"/>
                        <a:t>Responsive Design</a:t>
                      </a:r>
                      <a:r>
                        <a:rPr lang="en-US" dirty="0"/>
                        <a:t> (Mobile-friendly)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• </a:t>
                      </a:r>
                      <a:r>
                        <a:rPr lang="en-GB" b="1"/>
                        <a:t>Business Logic</a:t>
                      </a:r>
                      <a:r>
                        <a:rPr lang="en-GB"/>
                        <a:t> (Booking confirmation, Resource saving)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Bookings Table</a:t>
                      </a:r>
                      <a:r>
                        <a:rPr lang="en-US"/>
                        <a:t> (Status tracking)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58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• </a:t>
                      </a:r>
                      <a:r>
                        <a:rPr lang="en-GB" b="1"/>
                        <a:t>User Interface</a:t>
                      </a:r>
                      <a:r>
                        <a:rPr lang="en-GB"/>
                        <a:t> (Glassmorphism cards, Canvas-style layouts)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• </a:t>
                      </a:r>
                      <a:r>
                        <a:rPr lang="en-GB" b="1"/>
                        <a:t>Role Control</a:t>
                      </a:r>
                      <a:r>
                        <a:rPr lang="en-GB"/>
                        <a:t> (Redirects based on Client vs. Therapist)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 b="1"/>
                        <a:t>Therapist_Profiles Table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47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H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H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</a:t>
                      </a:r>
                      <a:r>
                        <a:rPr lang="en-US" b="1" dirty="0"/>
                        <a:t>Resources &amp; </a:t>
                      </a:r>
                      <a:r>
                        <a:rPr lang="en-US" b="1" dirty="0" err="1"/>
                        <a:t>Saved_Resources</a:t>
                      </a:r>
                      <a:r>
                        <a:rPr lang="en-US" b="1" dirty="0"/>
                        <a:t> Tables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45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030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ModernBold-V1">
      <a:dk1>
        <a:srgbClr val="000000"/>
      </a:dk1>
      <a:lt1>
        <a:srgbClr val="FFFFFF"/>
      </a:lt1>
      <a:dk2>
        <a:srgbClr val="52CF96"/>
      </a:dk2>
      <a:lt2>
        <a:srgbClr val="E8E8E8"/>
      </a:lt2>
      <a:accent1>
        <a:srgbClr val="FB3E43"/>
      </a:accent1>
      <a:accent2>
        <a:srgbClr val="FECE2F"/>
      </a:accent2>
      <a:accent3>
        <a:srgbClr val="209DFA"/>
      </a:accent3>
      <a:accent4>
        <a:srgbClr val="EF1B79"/>
      </a:accent4>
      <a:accent5>
        <a:srgbClr val="57B9AD"/>
      </a:accent5>
      <a:accent6>
        <a:srgbClr val="B6E0E7"/>
      </a:accent6>
      <a:hlink>
        <a:srgbClr val="467886"/>
      </a:hlink>
      <a:folHlink>
        <a:srgbClr val="96607D"/>
      </a:folHlink>
    </a:clrScheme>
    <a:fontScheme name="Custom 51">
      <a:majorFont>
        <a:latin typeface="Century Gothic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rnBold_win32_CP_v4" id="{4514E702-D6D0-4861-9095-E63AB3599BC8}" vid="{EA97D25B-1306-4D0A-A4AF-2683F723BF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7D4AA12-9D07-4C0B-B394-1BFB0873B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844FE0-80EE-45B0-B80A-ECEC0471DB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1D2F91-654D-41AD-9B49-EE83D97CECE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Tranquil forest photo slideshow</Template>
  <TotalTime>156</TotalTime>
  <Words>655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Gill Sans Nova</vt:lpstr>
      <vt:lpstr>Custom</vt:lpstr>
      <vt:lpstr>SERENITY</vt:lpstr>
      <vt:lpstr>Serenity is a comprehensive web-based mental health platform designed to bridge the gap between individuals seeking psychological support and verified professional therapists. It provides a secure and calming environment where clients can anonymously browse resources, book therapy sessions (Individual, Couples, or Child/Teen), and where therapists can professionally manage their practice through a digital dashboard.</vt:lpstr>
      <vt:lpstr>PowerPoint Presentation</vt:lpstr>
      <vt:lpstr>PowerPoint Presentation</vt:lpstr>
      <vt:lpstr>Main Functions of the Website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 Chepkoech</dc:creator>
  <cp:lastModifiedBy>Joanne Chepkoech</cp:lastModifiedBy>
  <cp:revision>1</cp:revision>
  <dcterms:created xsi:type="dcterms:W3CDTF">2025-12-12T16:47:56Z</dcterms:created>
  <dcterms:modified xsi:type="dcterms:W3CDTF">2025-12-12T19:24:22Z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